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83" r:id="rId4"/>
    <p:sldId id="281" r:id="rId5"/>
    <p:sldId id="282" r:id="rId6"/>
    <p:sldId id="284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66" r:id="rId33"/>
    <p:sldId id="274" r:id="rId34"/>
    <p:sldId id="275" r:id="rId35"/>
    <p:sldId id="276" r:id="rId36"/>
    <p:sldId id="277" r:id="rId37"/>
    <p:sldId id="27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6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50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82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4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89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86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84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65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33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92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970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86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285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74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445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57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D2EC6-3CA4-4D16-AC48-466C83FB1A89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85579F1-B154-4914-9121-A0376CAE9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4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507" y="413239"/>
            <a:ext cx="9144000" cy="2883877"/>
          </a:xfrm>
        </p:spPr>
        <p:txBody>
          <a:bodyPr>
            <a:normAutofit/>
          </a:bodyPr>
          <a:lstStyle/>
          <a:p>
            <a:pPr algn="ctr"/>
            <a:r>
              <a:rPr lang="en-GB" sz="5000" b="1" dirty="0" smtClean="0"/>
              <a:t>Numerical Heat Conduction</a:t>
            </a:r>
            <a:br>
              <a:rPr lang="en-GB" sz="5000" b="1" dirty="0" smtClean="0"/>
            </a:br>
            <a:r>
              <a:rPr lang="en-GB" sz="2800" b="1" dirty="0" smtClean="0"/>
              <a:t>Advanced Heat Transfer </a:t>
            </a:r>
            <a:r>
              <a:rPr lang="en-GB" sz="5000" b="1" dirty="0"/>
              <a:t/>
            </a:r>
            <a:br>
              <a:rPr lang="en-GB" sz="5000" b="1" dirty="0"/>
            </a:br>
            <a:r>
              <a:rPr lang="en-GB" sz="2800" b="1" dirty="0" smtClean="0"/>
              <a:t>Mid Semester Project</a:t>
            </a:r>
            <a:r>
              <a:rPr lang="en-GB" sz="5000" b="1" dirty="0" smtClean="0"/>
              <a:t> </a:t>
            </a:r>
            <a:br>
              <a:rPr lang="en-GB" sz="5000" b="1" dirty="0" smtClean="0"/>
            </a:br>
            <a:endParaRPr lang="en-IN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6707" y="3455377"/>
            <a:ext cx="9144000" cy="2831122"/>
          </a:xfrm>
        </p:spPr>
        <p:txBody>
          <a:bodyPr>
            <a:normAutofit/>
          </a:bodyPr>
          <a:lstStyle/>
          <a:p>
            <a:r>
              <a:rPr lang="en-GB" sz="2800" b="1" dirty="0" smtClean="0"/>
              <a:t>By: </a:t>
            </a:r>
          </a:p>
          <a:p>
            <a:r>
              <a:rPr lang="en-GB" sz="2800" b="1" dirty="0" smtClean="0"/>
              <a:t>Abhishek Yadav</a:t>
            </a:r>
          </a:p>
          <a:p>
            <a:r>
              <a:rPr lang="en-GB" sz="2800" b="1" dirty="0" smtClean="0"/>
              <a:t>Roll no: 2502103031</a:t>
            </a:r>
            <a:endParaRPr lang="en-GB" sz="2800" b="1" dirty="0"/>
          </a:p>
          <a:p>
            <a:r>
              <a:rPr lang="en-GB" sz="2800" b="1" dirty="0" smtClean="0"/>
              <a:t>Thermal Energy Systems</a:t>
            </a:r>
            <a:endParaRPr lang="en-GB" sz="2800" b="1" dirty="0"/>
          </a:p>
          <a:p>
            <a:r>
              <a:rPr lang="en-GB" sz="2800" b="1" dirty="0" smtClean="0"/>
              <a:t>1</a:t>
            </a:r>
            <a:r>
              <a:rPr lang="en-GB" sz="2800" b="1" baseline="30000" dirty="0" smtClean="0"/>
              <a:t>st</a:t>
            </a:r>
            <a:r>
              <a:rPr lang="en-GB" sz="2800" b="1" dirty="0" smtClean="0"/>
              <a:t> Semester </a:t>
            </a:r>
          </a:p>
        </p:txBody>
      </p:sp>
    </p:spTree>
    <p:extLst>
      <p:ext uri="{BB962C8B-B14F-4D97-AF65-F5344CB8AC3E}">
        <p14:creationId xmlns:p14="http://schemas.microsoft.com/office/powerpoint/2010/main" val="134923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287" y="87923"/>
            <a:ext cx="8911687" cy="668216"/>
          </a:xfrm>
        </p:spPr>
        <p:txBody>
          <a:bodyPr>
            <a:normAutofit/>
          </a:bodyPr>
          <a:lstStyle/>
          <a:p>
            <a:r>
              <a:rPr lang="en-GB" sz="2800" b="1" dirty="0"/>
              <a:t>A</a:t>
            </a:r>
            <a:r>
              <a:rPr lang="en-GB" sz="2800" b="1" dirty="0" smtClean="0"/>
              <a:t>. Transient Heat Conduction through Plane Slab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699" y="1969029"/>
            <a:ext cx="10880359" cy="32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8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6644" y="-8792"/>
            <a:ext cx="8911687" cy="800100"/>
          </a:xfrm>
        </p:spPr>
        <p:txBody>
          <a:bodyPr/>
          <a:lstStyle/>
          <a:p>
            <a:pPr algn="ctr"/>
            <a:r>
              <a:rPr lang="en-GB" b="1" dirty="0" smtClean="0"/>
              <a:t>       Diagram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888023"/>
                <a:ext cx="8915400" cy="5023199"/>
              </a:xfrm>
            </p:spPr>
            <p:txBody>
              <a:bodyPr/>
              <a:lstStyle/>
              <a:p>
                <a:endParaRPr lang="en-GB" dirty="0" smtClean="0"/>
              </a:p>
              <a:p>
                <a:endParaRPr lang="en-GB" dirty="0"/>
              </a:p>
              <a:p>
                <a:endParaRPr lang="en-GB" dirty="0" smtClean="0"/>
              </a:p>
              <a:p>
                <a:pPr marL="0" indent="0">
                  <a:buNone/>
                </a:pPr>
                <a:r>
                  <a:rPr lang="en-GB" dirty="0" smtClean="0"/>
                  <a:t>        </a:t>
                </a:r>
                <a:endParaRPr lang="en-GB" b="0" dirty="0" smtClean="0"/>
              </a:p>
              <a:p>
                <a:pPr marL="0" indent="0">
                  <a:buNone/>
                </a:pPr>
                <a:r>
                  <a:rPr lang="en-GB" dirty="0" smtClean="0"/>
                  <a:t>      </a:t>
                </a:r>
              </a:p>
              <a:p>
                <a:pPr marL="0" indent="0">
                  <a:buNone/>
                </a:pPr>
                <a:r>
                  <a:rPr lang="en-GB" dirty="0" smtClean="0"/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=373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 smtClean="0"/>
                  <a:t>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=303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=45 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^2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888023"/>
                <a:ext cx="8915400" cy="50231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67655" y="888023"/>
            <a:ext cx="3261945" cy="5023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842488" y="4193931"/>
            <a:ext cx="15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    L = 0.2m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176007" y="1286333"/>
                <a:ext cx="3024554" cy="1573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GB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𝑔𝑒𝑛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^3)</m:t>
                      </m:r>
                    </m:oMath>
                  </m:oMathPara>
                </a14:m>
                <a:endParaRPr lang="en-IN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=0.000228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dirty="0" smtClean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07" y="1286333"/>
                <a:ext cx="3024554" cy="1573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>
            <a:stCxn id="4" idx="1"/>
            <a:endCxn id="4" idx="3"/>
          </p:cNvCxnSpPr>
          <p:nvPr/>
        </p:nvCxnSpPr>
        <p:spPr>
          <a:xfrm>
            <a:off x="4967655" y="3399623"/>
            <a:ext cx="32619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10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3309" y="202223"/>
            <a:ext cx="8911687" cy="598021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Analytical solution for steady state condition: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740" y="1415562"/>
            <a:ext cx="9601199" cy="40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2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933" y="87779"/>
            <a:ext cx="8911687" cy="60681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Transient state condition: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024" y="1600200"/>
            <a:ext cx="9453503" cy="394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0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440" y="105364"/>
            <a:ext cx="8911687" cy="95850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800" b="1" dirty="0" smtClean="0"/>
              <a:t>Temperature plots at different times w.r.t to Steady state solution </a:t>
            </a:r>
            <a:br>
              <a:rPr lang="en-GB" sz="2800" b="1" dirty="0" smtClean="0"/>
            </a:br>
            <a:r>
              <a:rPr lang="en-GB" sz="2800" b="1" dirty="0" smtClean="0"/>
              <a:t>for time 0.1 min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460" y="1562069"/>
            <a:ext cx="6479646" cy="4859735"/>
          </a:xfrm>
        </p:spPr>
      </p:pic>
    </p:spTree>
    <p:extLst>
      <p:ext uri="{BB962C8B-B14F-4D97-AF65-F5344CB8AC3E}">
        <p14:creationId xmlns:p14="http://schemas.microsoft.com/office/powerpoint/2010/main" val="402096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386862"/>
            <a:ext cx="8915400" cy="5524360"/>
          </a:xfrm>
        </p:spPr>
        <p:txBody>
          <a:bodyPr/>
          <a:lstStyle/>
          <a:p>
            <a:r>
              <a:rPr lang="en-GB" dirty="0" smtClean="0"/>
              <a:t>For time 0.5 min 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415" y="1087542"/>
            <a:ext cx="6431573" cy="48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5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81354"/>
            <a:ext cx="8915400" cy="562986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 for time 1.5 min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843" y="910597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7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14300"/>
            <a:ext cx="8915400" cy="5796922"/>
          </a:xfrm>
        </p:spPr>
        <p:txBody>
          <a:bodyPr/>
          <a:lstStyle/>
          <a:p>
            <a:r>
              <a:rPr lang="en-GB" dirty="0" smtClean="0"/>
              <a:t>For time 2.5 min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766" y="910597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2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7054"/>
            <a:ext cx="8915400" cy="5744168"/>
          </a:xfrm>
        </p:spPr>
        <p:txBody>
          <a:bodyPr/>
          <a:lstStyle/>
          <a:p>
            <a:r>
              <a:rPr lang="en-GB" dirty="0" smtClean="0"/>
              <a:t>For 4 min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928687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7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90146"/>
            <a:ext cx="8915400" cy="5621076"/>
          </a:xfrm>
        </p:spPr>
        <p:txBody>
          <a:bodyPr/>
          <a:lstStyle/>
          <a:p>
            <a:r>
              <a:rPr lang="en-GB" dirty="0" smtClean="0"/>
              <a:t>For 5 min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150" y="831972"/>
            <a:ext cx="7067550" cy="530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/>
              <a:t>Code: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333" y="1802424"/>
            <a:ext cx="8369062" cy="429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5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859" y="2831125"/>
            <a:ext cx="10223664" cy="15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3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636" y="1758462"/>
            <a:ext cx="11213589" cy="27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8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231" y="996939"/>
            <a:ext cx="8311044" cy="509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5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232" y="0"/>
            <a:ext cx="9851658" cy="879231"/>
          </a:xfrm>
        </p:spPr>
        <p:txBody>
          <a:bodyPr>
            <a:normAutofit/>
          </a:bodyPr>
          <a:lstStyle/>
          <a:p>
            <a:r>
              <a:rPr lang="en-GB" sz="2400" b="1" dirty="0"/>
              <a:t>B</a:t>
            </a:r>
            <a:r>
              <a:rPr lang="en-GB" sz="2400" b="1" dirty="0" smtClean="0"/>
              <a:t>. Steady state head conduction with variable Thermal conductivity and Heat generation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138" y="1735482"/>
            <a:ext cx="11117752" cy="394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4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441" y="0"/>
            <a:ext cx="8911687" cy="800100"/>
          </a:xfrm>
        </p:spPr>
        <p:txBody>
          <a:bodyPr/>
          <a:lstStyle/>
          <a:p>
            <a:pPr algn="ctr"/>
            <a:r>
              <a:rPr lang="en-GB" b="1" dirty="0" smtClean="0"/>
              <a:t>       Diagram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888023"/>
                <a:ext cx="8915400" cy="5023199"/>
              </a:xfrm>
            </p:spPr>
            <p:txBody>
              <a:bodyPr/>
              <a:lstStyle/>
              <a:p>
                <a:endParaRPr lang="en-GB" dirty="0" smtClean="0"/>
              </a:p>
              <a:p>
                <a:endParaRPr lang="en-GB" dirty="0"/>
              </a:p>
              <a:p>
                <a:endParaRPr lang="en-GB" dirty="0" smtClean="0"/>
              </a:p>
              <a:p>
                <a:pPr marL="0" indent="0">
                  <a:buNone/>
                </a:pPr>
                <a:r>
                  <a:rPr lang="en-GB" dirty="0" smtClean="0"/>
                  <a:t>        </a:t>
                </a:r>
                <a:endParaRPr lang="en-GB" b="0" dirty="0" smtClean="0"/>
              </a:p>
              <a:p>
                <a:pPr marL="0" indent="0">
                  <a:buNone/>
                </a:pPr>
                <a:r>
                  <a:rPr lang="en-GB" dirty="0" smtClean="0"/>
                  <a:t>      </a:t>
                </a:r>
              </a:p>
              <a:p>
                <a:pPr marL="0" indent="0">
                  <a:buNone/>
                </a:pPr>
                <a:r>
                  <a:rPr lang="en-GB" dirty="0" smtClean="0"/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=373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 smtClean="0"/>
                  <a:t>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=303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=45 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^2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888023"/>
                <a:ext cx="8915400" cy="50231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67655" y="888023"/>
            <a:ext cx="3261945" cy="50231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842488" y="4193931"/>
            <a:ext cx="15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    L = 0.2m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176007" y="1286333"/>
                <a:ext cx="3024554" cy="6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𝑔𝑒𝑛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=30000(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^3)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07" y="1286333"/>
                <a:ext cx="3024554" cy="668901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>
            <a:stCxn id="4" idx="1"/>
            <a:endCxn id="4" idx="3"/>
          </p:cNvCxnSpPr>
          <p:nvPr/>
        </p:nvCxnSpPr>
        <p:spPr>
          <a:xfrm>
            <a:off x="4967655" y="3399623"/>
            <a:ext cx="32619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63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0217" y="457200"/>
            <a:ext cx="8911687" cy="659567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Analytical Solution</a:t>
            </a:r>
            <a:endParaRPr lang="en-IN" sz="28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8" y="1863969"/>
            <a:ext cx="11293873" cy="405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5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256" y="219808"/>
            <a:ext cx="8911687" cy="712177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err="1" smtClean="0"/>
              <a:t>Numercial</a:t>
            </a:r>
            <a:r>
              <a:rPr lang="en-GB" sz="2800" b="1" dirty="0" smtClean="0"/>
              <a:t> Solution 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123" y="1723292"/>
            <a:ext cx="9680331" cy="327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6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3986" y="0"/>
            <a:ext cx="8911687" cy="99367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Results: Temperature Distribution and Heat flux for different no. of nodes </a:t>
            </a:r>
            <a:endParaRPr lang="en-IN" sz="28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06869" y="993675"/>
            <a:ext cx="9297743" cy="5618139"/>
          </a:xfrm>
        </p:spPr>
        <p:txBody>
          <a:bodyPr>
            <a:normAutofit/>
          </a:bodyPr>
          <a:lstStyle/>
          <a:p>
            <a:r>
              <a:rPr lang="en-GB" sz="2000" b="1" dirty="0" smtClean="0"/>
              <a:t>For 3 nodes </a:t>
            </a:r>
          </a:p>
          <a:p>
            <a:endParaRPr lang="en-IN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991" y="1406770"/>
            <a:ext cx="8273867" cy="429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5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003" y="1116623"/>
            <a:ext cx="6065390" cy="4549043"/>
          </a:xfrm>
        </p:spPr>
      </p:pic>
    </p:spTree>
    <p:extLst>
      <p:ext uri="{BB962C8B-B14F-4D97-AF65-F5344CB8AC3E}">
        <p14:creationId xmlns:p14="http://schemas.microsoft.com/office/powerpoint/2010/main" val="249257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307731"/>
            <a:ext cx="8915400" cy="5603491"/>
          </a:xfrm>
        </p:spPr>
        <p:txBody>
          <a:bodyPr/>
          <a:lstStyle/>
          <a:p>
            <a:r>
              <a:rPr lang="en-GB" b="1" dirty="0" smtClean="0"/>
              <a:t>For 5 nodes 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475" y="967154"/>
            <a:ext cx="7186246" cy="538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1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50" y="665285"/>
            <a:ext cx="7016220" cy="5262166"/>
          </a:xfrm>
        </p:spPr>
      </p:pic>
    </p:spTree>
    <p:extLst>
      <p:ext uri="{BB962C8B-B14F-4D97-AF65-F5344CB8AC3E}">
        <p14:creationId xmlns:p14="http://schemas.microsoft.com/office/powerpoint/2010/main" val="1199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457200"/>
            <a:ext cx="8915400" cy="5454022"/>
          </a:xfrm>
        </p:spPr>
        <p:txBody>
          <a:bodyPr/>
          <a:lstStyle/>
          <a:p>
            <a:r>
              <a:rPr lang="en-GB" b="1" dirty="0" smtClean="0"/>
              <a:t>For 20 nodes 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219" y="1104534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0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351692"/>
            <a:ext cx="8915400" cy="5577620"/>
          </a:xfrm>
        </p:spPr>
        <p:txBody>
          <a:bodyPr/>
          <a:lstStyle/>
          <a:p>
            <a:r>
              <a:rPr lang="en-GB" b="1" dirty="0" smtClean="0"/>
              <a:t>For 20 nodes 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092" y="1052878"/>
            <a:ext cx="6501911" cy="487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2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54977"/>
            <a:ext cx="8915400" cy="5674335"/>
          </a:xfrm>
        </p:spPr>
        <p:txBody>
          <a:bodyPr/>
          <a:lstStyle/>
          <a:p>
            <a:r>
              <a:rPr lang="en-GB" b="1" dirty="0" smtClean="0"/>
              <a:t>For 50 nodes 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807699"/>
            <a:ext cx="7346096" cy="550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6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4089" y="369277"/>
            <a:ext cx="8915400" cy="5102329"/>
          </a:xfrm>
        </p:spPr>
        <p:txBody>
          <a:bodyPr/>
          <a:lstStyle/>
          <a:p>
            <a:r>
              <a:rPr lang="en-GB" b="1" dirty="0" smtClean="0"/>
              <a:t>For 50 nodes 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954" y="962757"/>
            <a:ext cx="7033846" cy="527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6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9469"/>
            <a:ext cx="8915400" cy="5761753"/>
          </a:xfrm>
        </p:spPr>
        <p:txBody>
          <a:bodyPr/>
          <a:lstStyle/>
          <a:p>
            <a:r>
              <a:rPr lang="en-GB" b="1" dirty="0" smtClean="0"/>
              <a:t>For 70 nodes</a:t>
            </a:r>
          </a:p>
          <a:p>
            <a:r>
              <a:rPr lang="en-GB" b="1" dirty="0" smtClean="0"/>
              <a:t> 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369" y="840764"/>
            <a:ext cx="7894398" cy="541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474786"/>
            <a:ext cx="8915400" cy="5436436"/>
          </a:xfrm>
        </p:spPr>
        <p:txBody>
          <a:bodyPr/>
          <a:lstStyle/>
          <a:p>
            <a:r>
              <a:rPr lang="en-GB" b="1" dirty="0" smtClean="0"/>
              <a:t>For 70 nodes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347" y="928689"/>
            <a:ext cx="7007468" cy="52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1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54977"/>
            <a:ext cx="8915400" cy="5656245"/>
          </a:xfrm>
        </p:spPr>
        <p:txBody>
          <a:bodyPr/>
          <a:lstStyle/>
          <a:p>
            <a:r>
              <a:rPr lang="en-GB" b="1" dirty="0" smtClean="0"/>
              <a:t>For 100 nodes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647" y="974850"/>
            <a:ext cx="7016260" cy="526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4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307731"/>
            <a:ext cx="8915400" cy="5603491"/>
          </a:xfrm>
        </p:spPr>
        <p:txBody>
          <a:bodyPr/>
          <a:lstStyle/>
          <a:p>
            <a:r>
              <a:rPr lang="en-GB" b="1" dirty="0" smtClean="0"/>
              <a:t>For 100 nodes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68" y="931985"/>
            <a:ext cx="6840417" cy="51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6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6" y="167054"/>
            <a:ext cx="8911687" cy="993531"/>
          </a:xfrm>
        </p:spPr>
        <p:txBody>
          <a:bodyPr>
            <a:normAutofit/>
          </a:bodyPr>
          <a:lstStyle/>
          <a:p>
            <a:r>
              <a:rPr lang="en-GB" sz="2800" b="1" dirty="0" smtClean="0"/>
              <a:t>Deciding which mesh size is better for accuracy and time consumed </a:t>
            </a:r>
            <a:endParaRPr lang="en-IN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571708"/>
              </p:ext>
            </p:extLst>
          </p:nvPr>
        </p:nvGraphicFramePr>
        <p:xfrm>
          <a:off x="2589213" y="2133600"/>
          <a:ext cx="8915400" cy="3229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8309076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80087093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236784022"/>
                    </a:ext>
                  </a:extLst>
                </a:gridCol>
              </a:tblGrid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Nodes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Iterations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Time</a:t>
                      </a:r>
                      <a:r>
                        <a:rPr lang="en-GB" baseline="0" dirty="0" smtClean="0"/>
                        <a:t> taken (seconds)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268931"/>
                  </a:ext>
                </a:extLst>
              </a:tr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0.0341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710761"/>
                  </a:ext>
                </a:extLst>
              </a:tr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0.0344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91941"/>
                  </a:ext>
                </a:extLst>
              </a:tr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863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0.153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07404"/>
                  </a:ext>
                </a:extLst>
              </a:tr>
              <a:tr h="474865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5124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1.501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437029"/>
                  </a:ext>
                </a:extLst>
              </a:tr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9700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3.937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927059"/>
                  </a:ext>
                </a:extLst>
              </a:tr>
              <a:tr h="45914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18959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11.07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99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32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034" y="158262"/>
            <a:ext cx="8911687" cy="624398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Code: Parameter setup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724283"/>
            <a:ext cx="8658956" cy="362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1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6166" y="993530"/>
            <a:ext cx="8911687" cy="57164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Analytical solution: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002" y="3130062"/>
            <a:ext cx="10556590" cy="7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373" y="351548"/>
            <a:ext cx="8911687" cy="598021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Numerical solution:</a:t>
            </a:r>
            <a:endParaRPr lang="en-IN" sz="28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076" y="2022232"/>
            <a:ext cx="11420283" cy="35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6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871" y="122948"/>
            <a:ext cx="8911687" cy="57164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Numerical solution continue…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986" y="1040853"/>
            <a:ext cx="9209950" cy="502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2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1040" y="96571"/>
            <a:ext cx="8911687" cy="55405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Numerical solution continues…</a:t>
            </a:r>
            <a:endParaRPr lang="en-IN"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7838" y="1191429"/>
            <a:ext cx="7791699" cy="439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5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267</TotalTime>
  <Words>205</Words>
  <Application>Microsoft Office PowerPoint</Application>
  <PresentationFormat>Widescreen</PresentationFormat>
  <Paragraphs>82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Cambria Math</vt:lpstr>
      <vt:lpstr>Century Gothic</vt:lpstr>
      <vt:lpstr>Wingdings 3</vt:lpstr>
      <vt:lpstr>Wisp</vt:lpstr>
      <vt:lpstr>Numerical Heat Conduction Advanced Heat Transfer  Mid Semester Project  </vt:lpstr>
      <vt:lpstr>A. Transient Heat Conduction through Plane Slab</vt:lpstr>
      <vt:lpstr>       Diagram</vt:lpstr>
      <vt:lpstr>Analytical solution for steady state condition:</vt:lpstr>
      <vt:lpstr>Transient state condition:</vt:lpstr>
      <vt:lpstr>Temperature plots at different times w.r.t to Steady state solution  for time 0.1 min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Code:</vt:lpstr>
      <vt:lpstr>PowerPoint Presentation</vt:lpstr>
      <vt:lpstr>PowerPoint Presentation</vt:lpstr>
      <vt:lpstr>PowerPoint Presentation</vt:lpstr>
      <vt:lpstr>B. Steady state head conduction with variable Thermal conductivity and Heat generation</vt:lpstr>
      <vt:lpstr>       Diagram</vt:lpstr>
      <vt:lpstr>Analytical Solution</vt:lpstr>
      <vt:lpstr>Numercial Solution </vt:lpstr>
      <vt:lpstr>Results: Temperature Distribution and Heat flux for different no. of nodes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Deciding which mesh size is better for accuracy and time consumed </vt:lpstr>
      <vt:lpstr>Code: Parameter setup</vt:lpstr>
      <vt:lpstr>Analytical solution:</vt:lpstr>
      <vt:lpstr>Numerical solution:</vt:lpstr>
      <vt:lpstr>Numerical solution continue…</vt:lpstr>
      <vt:lpstr>Numerical solution continues…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Heat Conduction               Mid Semester Project  </dc:title>
  <dc:creator>hp</dc:creator>
  <cp:lastModifiedBy>hp</cp:lastModifiedBy>
  <cp:revision>21</cp:revision>
  <dcterms:created xsi:type="dcterms:W3CDTF">2025-09-12T07:58:10Z</dcterms:created>
  <dcterms:modified xsi:type="dcterms:W3CDTF">2025-09-14T04:03:32Z</dcterms:modified>
</cp:coreProperties>
</file>